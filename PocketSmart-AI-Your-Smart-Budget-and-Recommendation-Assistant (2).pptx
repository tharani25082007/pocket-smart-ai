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Inter Medium"/>
      <p:regular r:id="rId201314"/>
    </p:embeddedFont>
    <p:embeddedFont>
      <p:font typeface="JetBrains Mono Medium"/>
      <p:regular r:id="rId201315"/>
    </p:embeddedFont>
    <p:embeddedFont>
      <p:font typeface="JetBrains Mono SemiBold"/>
      <p:regular r:id="rId201316"/>
    </p:embeddedFont>
    <p:embeddedFont>
      <p:font typeface="JetBrains Mono Bold"/>
      <p:regular r:id="rId201317"/>
    </p:embeddedFont>
    <p:embeddedFont>
      <p:font typeface="Source Sans 3 SemiBold"/>
      <p:regular r:id="rId201318"/>
    </p:embeddedFont>
    <p:embeddedFont>
      <p:font typeface="Source Sans 3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EE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EE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299042" cy="6858000"/>
          </a:xfrm>
          <a:prstGeom prst="rect">
            <a:avLst/>
          </a:prstGeom>
          <a:solidFill>
            <a:srgbClr val="123A63"/>
          </a:solidFill>
          <a:ln/>
        </p:spPr>
      </p:sp>
      <p:sp>
        <p:nvSpPr>
          <p:cNvPr id="3" name="Text 1"/>
          <p:cNvSpPr/>
          <p:nvPr/>
        </p:nvSpPr>
        <p:spPr>
          <a:xfrm>
            <a:off x="457189" y="508000"/>
            <a:ext cx="584185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spc="110" kern="0" dirty="0">
                <a:solidFill>
                  <a:srgbClr val="FFFF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BCA PROJECT PRESENTATION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189" y="3577828"/>
            <a:ext cx="5384665" cy="548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000" b="1" spc="-80" kern="0" dirty="0">
                <a:solidFill>
                  <a:srgbClr val="FFFF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Pocket Smart AI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189" y="4291509"/>
            <a:ext cx="5384665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00" spc="-30" kern="0" dirty="0">
                <a:solidFill>
                  <a:srgbClr val="FFFFFF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Your Smart Budget &amp; Recommendation Assistant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189" y="4681339"/>
            <a:ext cx="5384665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Personalized, budget-based suggestions across categories and e-commerce ecosystems.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189" y="5530850"/>
            <a:ext cx="431690" cy="31651"/>
          </a:xfrm>
          <a:prstGeom prst="roundRect">
            <a:avLst>
              <a:gd name="adj" fmla="val 49998"/>
            </a:avLst>
          </a:prstGeom>
          <a:solidFill>
            <a:srgbClr val="123A63"/>
          </a:solidFill>
          <a:ln/>
        </p:spPr>
      </p:sp>
      <p:sp>
        <p:nvSpPr>
          <p:cNvPr id="8" name="Text 6"/>
          <p:cNvSpPr/>
          <p:nvPr/>
        </p:nvSpPr>
        <p:spPr>
          <a:xfrm>
            <a:off x="457189" y="5924550"/>
            <a:ext cx="538466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115" kern="0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BUDGET PLANNING · GENAI RECOMMENDATIONS · CROSS-PLATFORM DISCOVERY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299042" y="0"/>
            <a:ext cx="5892653" cy="3217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1250"/>
              </a:spcAft>
              <a:buNone/>
            </a:pPr>
            <a:endParaRPr lang="en-US" sz="1450" dirty="0"/>
          </a:p>
          <a:p>
            <a:pPr algn="l" indent="0" marL="0">
              <a:lnSpc>
                <a:spcPct val="117000"/>
              </a:lnSpc>
              <a:spcAft>
                <a:spcPts val="1250"/>
              </a:spcAft>
              <a:buNone/>
            </a:pPr>
            <a:endParaRPr lang="en-US" sz="1450" dirty="0"/>
          </a:p>
          <a:p>
            <a:pPr algn="l" indent="0" marL="0">
              <a:lnSpc>
                <a:spcPct val="117000"/>
              </a:lnSpc>
              <a:spcAft>
                <a:spcPts val="1250"/>
              </a:spcAft>
              <a:buNone/>
            </a:pPr>
            <a:endParaRPr lang="en-US" sz="1450" dirty="0"/>
          </a:p>
          <a:p>
            <a:pPr algn="l" indent="0" marL="0">
              <a:lnSpc>
                <a:spcPct val="117000"/>
              </a:lnSpc>
              <a:spcAft>
                <a:spcPts val="1250"/>
              </a:spcAft>
              <a:buNone/>
            </a:pPr>
            <a:endParaRPr lang="en-US" sz="1450" dirty="0"/>
          </a:p>
          <a:p>
            <a:pPr algn="l" indent="0" marL="0">
              <a:lnSpc>
                <a:spcPct val="117000"/>
              </a:lnSpc>
              <a:spcAft>
                <a:spcPts val="1250"/>
              </a:spcAft>
              <a:buNone/>
            </a:pPr>
            <a:endParaRPr lang="en-US" sz="1450" dirty="0"/>
          </a:p>
          <a:p>
            <a:pPr algn="l" indent="0" marL="0">
              <a:lnSpc>
                <a:spcPct val="117000"/>
              </a:lnSpc>
              <a:spcAft>
                <a:spcPts val="1250"/>
              </a:spcAft>
              <a:buNone/>
            </a:pPr>
            <a:endParaRPr lang="en-US" sz="1450" dirty="0"/>
          </a:p>
          <a:p>
            <a:pPr algn="l" indent="0" marL="0">
              <a:lnSpc>
                <a:spcPct val="117000"/>
              </a:lnSpc>
              <a:spcAft>
                <a:spcPts val="1250"/>
              </a:spcAft>
              <a:buNone/>
            </a:pP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38339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189" y="2779713"/>
            <a:ext cx="175255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spc="115" kern="0" dirty="0">
                <a:solidFill>
                  <a:srgbClr val="334155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PROJECT INTRODUCTION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189" y="3494088"/>
            <a:ext cx="1752556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600" b="1" spc="-230" kern="0" dirty="0">
                <a:solidFill>
                  <a:srgbClr val="123A63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01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2438339" y="0"/>
            <a:ext cx="9753356" cy="6858000"/>
          </a:xfrm>
          <a:prstGeom prst="rect">
            <a:avLst/>
          </a:prstGeom>
          <a:solidFill>
            <a:srgbClr val="123A63"/>
          </a:solidFill>
          <a:ln/>
        </p:spPr>
      </p:sp>
      <p:sp>
        <p:nvSpPr>
          <p:cNvPr id="6" name="Shape 4"/>
          <p:cNvSpPr/>
          <p:nvPr/>
        </p:nvSpPr>
        <p:spPr>
          <a:xfrm>
            <a:off x="3301917" y="2248495"/>
            <a:ext cx="431690" cy="31651"/>
          </a:xfrm>
          <a:prstGeom prst="roundRect">
            <a:avLst>
              <a:gd name="adj" fmla="val 49998"/>
            </a:avLst>
          </a:prstGeom>
          <a:solidFill>
            <a:srgbClr val="123A63"/>
          </a:solidFill>
          <a:ln/>
        </p:spPr>
      </p:sp>
      <p:sp>
        <p:nvSpPr>
          <p:cNvPr id="7" name="Text 5"/>
          <p:cNvSpPr/>
          <p:nvPr/>
        </p:nvSpPr>
        <p:spPr>
          <a:xfrm>
            <a:off x="3301917" y="2791420"/>
            <a:ext cx="888977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spc="110" kern="0" dirty="0">
                <a:solidFill>
                  <a:srgbClr val="FFFF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POCKETSMART AI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01917" y="3073995"/>
            <a:ext cx="8432589" cy="877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200" b="1" spc="-64" kern="0" dirty="0">
                <a:solidFill>
                  <a:srgbClr val="FFFF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Personalized recommendations, grounded in a budget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301917" y="4135834"/>
            <a:ext cx="8432589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 GenAI-powered assistant for decisions across home decor, events, and jewelry shopping.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189" y="6549430"/>
            <a:ext cx="4077392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00" spc="126" kern="0" dirty="0">
                <a:solidFill>
                  <a:srgbClr val="64748B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POCKETSMART AI · BCA PROJECT PRESENTATION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565343" y="6549430"/>
            <a:ext cx="626352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00" spc="126" kern="0" dirty="0">
                <a:solidFill>
                  <a:srgbClr val="123A63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82600"/>
            <a:ext cx="1163290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spc="110" kern="0" dirty="0">
                <a:solidFill>
                  <a:srgbClr val="334155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01 / PROJECT INTRODUCTION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58786" y="765175"/>
            <a:ext cx="11074123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200" b="1" spc="-64" kern="0" dirty="0">
                <a:solidFill>
                  <a:srgbClr val="1E293B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Budget planning becomes difficult when choices multiply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58786" y="1518345"/>
            <a:ext cx="3488146" cy="2306042"/>
          </a:xfrm>
          <a:prstGeom prst="roundRect">
            <a:avLst>
              <a:gd name="adj" fmla="val 594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27940" dist="8890" dir="5400000">
              <a:srgbClr val="1e293b">
                <a:alpha val="1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93730" y="1727895"/>
            <a:ext cx="325320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115" kern="0" dirty="0">
                <a:solidFill>
                  <a:srgbClr val="334155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MANY CATEGORIES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93730" y="2093020"/>
            <a:ext cx="3018258" cy="589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150" spc="-43" kern="0" dirty="0">
                <a:solidFill>
                  <a:srgbClr val="1E293B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Home decor, events, and jewelry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793730" y="2816126"/>
            <a:ext cx="3018258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3341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Each spans many products, platforms, and price ranges.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351725" y="1518345"/>
            <a:ext cx="3488146" cy="2306042"/>
          </a:xfrm>
          <a:prstGeom prst="roundRect">
            <a:avLst>
              <a:gd name="adj" fmla="val 594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27940" dist="8890" dir="5400000">
              <a:srgbClr val="1e293b">
                <a:alpha val="1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86669" y="1727895"/>
            <a:ext cx="325320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115" kern="0" dirty="0">
                <a:solidFill>
                  <a:srgbClr val="334155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MANY CHOICES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86669" y="2093020"/>
            <a:ext cx="3018258" cy="589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150" spc="-43" kern="0" dirty="0">
                <a:solidFill>
                  <a:srgbClr val="1E293B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More options create more friction</a:t>
            </a:r>
            <a:endParaRPr lang="en-US" sz="2150" dirty="0"/>
          </a:p>
        </p:txBody>
      </p:sp>
      <p:sp>
        <p:nvSpPr>
          <p:cNvPr id="11" name="Text 9"/>
          <p:cNvSpPr/>
          <p:nvPr/>
        </p:nvSpPr>
        <p:spPr>
          <a:xfrm>
            <a:off x="4586669" y="2816126"/>
            <a:ext cx="3018258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3341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Comparing products and services makes decisions harder.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144663" y="1518345"/>
            <a:ext cx="3488246" cy="2306042"/>
          </a:xfrm>
          <a:prstGeom prst="roundRect">
            <a:avLst>
              <a:gd name="adj" fmla="val 594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27940" dist="8890" dir="5400000">
              <a:srgbClr val="1e293b">
                <a:alpha val="1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79608" y="1727895"/>
            <a:ext cx="325330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115" kern="0" dirty="0">
                <a:solidFill>
                  <a:srgbClr val="334155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THE GOAL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379608" y="2093020"/>
            <a:ext cx="3018357" cy="589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150" spc="-43" kern="0" dirty="0">
                <a:solidFill>
                  <a:srgbClr val="1E293B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Decide without overspending</a:t>
            </a:r>
            <a:endParaRPr lang="en-US" sz="2150" dirty="0"/>
          </a:p>
        </p:txBody>
      </p:sp>
      <p:sp>
        <p:nvSpPr>
          <p:cNvPr id="15" name="Text 13"/>
          <p:cNvSpPr/>
          <p:nvPr/>
        </p:nvSpPr>
        <p:spPr>
          <a:xfrm>
            <a:off x="8379608" y="2816126"/>
            <a:ext cx="3018357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3341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Pocket Smart AI provides personalized, budget-based suggestions.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58786" y="4138712"/>
            <a:ext cx="1163290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115" kern="0" dirty="0">
                <a:solidFill>
                  <a:srgbClr val="64748B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POCKETSMART AI ADDRESSES THIS WITH A GENAI-POWERED, CROSS-PLATFORM RECOMMENDATION SYSTEM.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189" y="6549430"/>
            <a:ext cx="4077392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00" spc="126" kern="0" dirty="0">
                <a:solidFill>
                  <a:srgbClr val="64748B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POCKETSMART AI · BCA PROJECT PRESENTATION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565343" y="6549430"/>
            <a:ext cx="626352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00" spc="126" kern="0" dirty="0">
                <a:solidFill>
                  <a:srgbClr val="123A63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31800"/>
            <a:ext cx="1163290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spc="110" kern="0" dirty="0">
                <a:solidFill>
                  <a:srgbClr val="334155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THE PLATFORM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58786" y="714375"/>
            <a:ext cx="11074123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200" b="1" spc="-64" kern="0" dirty="0">
                <a:solidFill>
                  <a:srgbClr val="1E293B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Pocket Smart AI connects budgets, preferences, and platforms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58786" y="2120900"/>
            <a:ext cx="3892849" cy="16545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50" dirty="0">
                <a:solidFill>
                  <a:srgbClr val="3341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Gemini 1.5 Flash Pro interprets user budgets, preferences, context, and optional images.</a:t>
            </a:r>
            <a:endParaRPr lang="en-US" sz="14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3341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Adaptive forms and a recommendation engine bridge multiple categories and e-commerce ecosystems.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58786" y="3883422"/>
            <a:ext cx="3892849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115" kern="0" dirty="0">
                <a:solidFill>
                  <a:srgbClr val="64748B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RECOMMENDATIONS CAN SPAN AMAZON, FLIPKART, IKEA, SWIGGY, ZOMATO, OYO, AND MORE.</a:t>
            </a:r>
            <a:endParaRPr lang="en-US" sz="10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08725" y="1467545"/>
            <a:ext cx="6724184" cy="366940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73686" y="2892940"/>
            <a:ext cx="1394261" cy="164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200" b="1" spc="-24" kern="0" dirty="0">
                <a:solidFill>
                  <a:srgbClr val="FFFF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PocketSmart AI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573686" y="3127448"/>
            <a:ext cx="1394261" cy="489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Recommendation engine hub connecting inputs to platforms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388367" y="1797732"/>
            <a:ext cx="1602707" cy="164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200" b="1" spc="-24" kern="0" dirty="0">
                <a:solidFill>
                  <a:srgbClr val="FFFF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Budgets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388367" y="2032240"/>
            <a:ext cx="1602707" cy="326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Set spending limits and ranges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9718661" y="2154116"/>
            <a:ext cx="1602707" cy="16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200" b="1" spc="-24" kern="0" dirty="0">
                <a:solidFill>
                  <a:srgbClr val="FFFF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Preferences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718661" y="2388624"/>
            <a:ext cx="1602707" cy="326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Style, brands, and delivery options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206818" y="3969657"/>
            <a:ext cx="1602707" cy="164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200" b="1" spc="-24" kern="0" dirty="0">
                <a:solidFill>
                  <a:srgbClr val="FFFF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Optional Images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206818" y="4204165"/>
            <a:ext cx="1602707" cy="326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Upload photos for visual matching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9530388" y="4258799"/>
            <a:ext cx="1602707" cy="164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200" b="1" spc="-24" kern="0" dirty="0">
                <a:solidFill>
                  <a:srgbClr val="FFFF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Platforms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530388" y="4493306"/>
            <a:ext cx="1602707" cy="326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Amazon, Flipkart, IKEA, Swiggy, Zomato, OYO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57189" y="6549430"/>
            <a:ext cx="4077392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00" spc="126" kern="0" dirty="0">
                <a:solidFill>
                  <a:srgbClr val="64748B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POCKETSMART AI · BCA PROJECT PRESENTATION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565343" y="6549430"/>
            <a:ext cx="626352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00" spc="126" kern="0" dirty="0">
                <a:solidFill>
                  <a:srgbClr val="123A63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82600"/>
            <a:ext cx="1163290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spc="110" kern="0" dirty="0">
                <a:solidFill>
                  <a:srgbClr val="334155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ONE PLATFORM · THREE ASSISTANTS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58786" y="765175"/>
            <a:ext cx="11074123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200" b="1" spc="-64" kern="0" dirty="0">
                <a:solidFill>
                  <a:srgbClr val="1E293B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Three planners turn one platform into three practical assistants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58786" y="1518345"/>
            <a:ext cx="3488146" cy="2626122"/>
          </a:xfrm>
          <a:prstGeom prst="roundRect">
            <a:avLst>
              <a:gd name="adj" fmla="val 522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27940" dist="8890" dir="5400000">
              <a:srgbClr val="1e293b">
                <a:alpha val="1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30" y="1778695"/>
            <a:ext cx="368291" cy="3683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3730" y="2254945"/>
            <a:ext cx="325320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115" kern="0" dirty="0">
                <a:solidFill>
                  <a:srgbClr val="334155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HOME INTERIOR PLANNER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93730" y="2620070"/>
            <a:ext cx="3018258" cy="589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150" spc="-43" kern="0" dirty="0">
                <a:solidFill>
                  <a:srgbClr val="1E293B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Room-aware decor recommendations</a:t>
            </a:r>
            <a:endParaRPr lang="en-US" sz="2150" dirty="0"/>
          </a:p>
        </p:txBody>
      </p:sp>
      <p:sp>
        <p:nvSpPr>
          <p:cNvPr id="8" name="Text 5"/>
          <p:cNvSpPr/>
          <p:nvPr/>
        </p:nvSpPr>
        <p:spPr>
          <a:xfrm>
            <a:off x="793730" y="3343176"/>
            <a:ext cx="3018258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3341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Balances style, function, and price.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4351725" y="1518345"/>
            <a:ext cx="3488146" cy="2626122"/>
          </a:xfrm>
          <a:prstGeom prst="roundRect">
            <a:avLst>
              <a:gd name="adj" fmla="val 522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27940" dist="8890" dir="5400000">
              <a:srgbClr val="1e293b">
                <a:alpha val="1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6669" y="1778695"/>
            <a:ext cx="368291" cy="3683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86669" y="2254945"/>
            <a:ext cx="325320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115" kern="0" dirty="0">
                <a:solidFill>
                  <a:srgbClr val="334155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PARTY PLANNER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586669" y="2620070"/>
            <a:ext cx="3018258" cy="294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150" spc="-43" kern="0" dirty="0">
                <a:solidFill>
                  <a:srgbClr val="1E293B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Budget allocation by need</a:t>
            </a:r>
            <a:endParaRPr lang="en-US" sz="2150" dirty="0"/>
          </a:p>
        </p:txBody>
      </p:sp>
      <p:sp>
        <p:nvSpPr>
          <p:cNvPr id="13" name="Text 9"/>
          <p:cNvSpPr/>
          <p:nvPr/>
        </p:nvSpPr>
        <p:spPr>
          <a:xfrm>
            <a:off x="4586669" y="3048298"/>
            <a:ext cx="3018258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3341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Plans catering, decoration, entertainment, and accommodation.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8144663" y="1518345"/>
            <a:ext cx="3488246" cy="2626122"/>
          </a:xfrm>
          <a:prstGeom prst="roundRect">
            <a:avLst>
              <a:gd name="adj" fmla="val 522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27940" dist="8890" dir="5400000">
              <a:srgbClr val="1e293b">
                <a:alpha val="1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9608" y="1778695"/>
            <a:ext cx="368291" cy="3683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79608" y="2254945"/>
            <a:ext cx="325330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115" kern="0" dirty="0">
                <a:solidFill>
                  <a:srgbClr val="334155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JEWELRY PLANNER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8379608" y="2620070"/>
            <a:ext cx="3018357" cy="589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150" spc="-43" kern="0" dirty="0">
                <a:solidFill>
                  <a:srgbClr val="1E293B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Occasion- and style-aware suggestions</a:t>
            </a:r>
            <a:endParaRPr lang="en-US" sz="2150" dirty="0"/>
          </a:p>
        </p:txBody>
      </p:sp>
      <p:sp>
        <p:nvSpPr>
          <p:cNvPr id="18" name="Text 13"/>
          <p:cNvSpPr/>
          <p:nvPr/>
        </p:nvSpPr>
        <p:spPr>
          <a:xfrm>
            <a:off x="8379608" y="3343176"/>
            <a:ext cx="3018357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3341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Supports optional outfit image analysis.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558786" y="4458791"/>
            <a:ext cx="1163290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115" kern="0" dirty="0">
                <a:solidFill>
                  <a:srgbClr val="64748B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EACH PLANNER CONVERTS STRUCTURED INPUTS INTO TAILORED RECOMMENDATIONS.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457189" y="6549430"/>
            <a:ext cx="4077392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00" spc="126" kern="0" dirty="0">
                <a:solidFill>
                  <a:srgbClr val="64748B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POCKETSMART AI · BCA PROJECT PRESENTATION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565343" y="6549430"/>
            <a:ext cx="626352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00" spc="126" kern="0" dirty="0">
                <a:solidFill>
                  <a:srgbClr val="123A63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31800"/>
            <a:ext cx="1163290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spc="110" kern="0" dirty="0">
                <a:solidFill>
                  <a:srgbClr val="334155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PLANNER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58786" y="714375"/>
            <a:ext cx="11074123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200" b="1" spc="-64" kern="0" dirty="0">
                <a:solidFill>
                  <a:srgbClr val="1E293B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Home Interior Planner balances style, function, and price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58786" y="1467545"/>
            <a:ext cx="2539936" cy="2801938"/>
          </a:xfrm>
          <a:prstGeom prst="roundRect">
            <a:avLst>
              <a:gd name="adj" fmla="val 54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27940" dist="8890" dir="5400000">
              <a:srgbClr val="1e293b">
                <a:alpha val="1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93730" y="1727895"/>
            <a:ext cx="371863" cy="233362"/>
          </a:xfrm>
          <a:prstGeom prst="roundRect">
            <a:avLst>
              <a:gd name="adj" fmla="val 32652"/>
            </a:avLst>
          </a:prstGeom>
          <a:solidFill>
            <a:srgbClr val="E0E6EC"/>
          </a:solidFill>
          <a:ln w="6350">
            <a:solidFill>
              <a:srgbClr val="D4D4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8978" y="1777901"/>
            <a:ext cx="79095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050" spc="84" kern="0" dirty="0">
                <a:solidFill>
                  <a:srgbClr val="123A63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01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93730" y="2034282"/>
            <a:ext cx="2070048" cy="294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150" spc="-43" kern="0" dirty="0">
                <a:solidFill>
                  <a:srgbClr val="1E293B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Select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793730" y="2462510"/>
            <a:ext cx="2070048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64748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User selects the Home Budget Planner and enters a budget.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3403515" y="1467545"/>
            <a:ext cx="2539936" cy="2801938"/>
          </a:xfrm>
          <a:prstGeom prst="roundRect">
            <a:avLst>
              <a:gd name="adj" fmla="val 54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27940" dist="8890" dir="5400000">
              <a:srgbClr val="1e293b">
                <a:alpha val="1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38459" y="1727895"/>
            <a:ext cx="371863" cy="233362"/>
          </a:xfrm>
          <a:prstGeom prst="roundRect">
            <a:avLst>
              <a:gd name="adj" fmla="val 32652"/>
            </a:avLst>
          </a:prstGeom>
          <a:solidFill>
            <a:srgbClr val="E0E6EC"/>
          </a:solidFill>
          <a:ln w="6350">
            <a:solidFill>
              <a:srgbClr val="D4D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33707" y="1777901"/>
            <a:ext cx="79095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050" spc="84" kern="0" dirty="0">
                <a:solidFill>
                  <a:srgbClr val="123A63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02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38459" y="2034282"/>
            <a:ext cx="2070048" cy="294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150" spc="-43" kern="0" dirty="0">
                <a:solidFill>
                  <a:srgbClr val="1E293B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Define room</a:t>
            </a:r>
            <a:endParaRPr lang="en-US" sz="2150" dirty="0"/>
          </a:p>
        </p:txBody>
      </p:sp>
      <p:sp>
        <p:nvSpPr>
          <p:cNvPr id="13" name="Text 11"/>
          <p:cNvSpPr/>
          <p:nvPr/>
        </p:nvSpPr>
        <p:spPr>
          <a:xfrm>
            <a:off x="3638459" y="2462510"/>
            <a:ext cx="2070048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64748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Room types can include Living Room, Kitchen, and Bedroom.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248244" y="1467545"/>
            <a:ext cx="2539936" cy="2801938"/>
          </a:xfrm>
          <a:prstGeom prst="roundRect">
            <a:avLst>
              <a:gd name="adj" fmla="val 54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27940" dist="8890" dir="5400000">
              <a:srgbClr val="1e293b">
                <a:alpha val="1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83188" y="1727895"/>
            <a:ext cx="371863" cy="233362"/>
          </a:xfrm>
          <a:prstGeom prst="roundRect">
            <a:avLst>
              <a:gd name="adj" fmla="val 32652"/>
            </a:avLst>
          </a:prstGeom>
          <a:solidFill>
            <a:srgbClr val="E0E6EC"/>
          </a:solidFill>
          <a:ln w="6350">
            <a:solidFill>
              <a:srgbClr val="D4D4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78435" y="1777901"/>
            <a:ext cx="79095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050" spc="84" kern="0" dirty="0">
                <a:solidFill>
                  <a:srgbClr val="123A63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03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83188" y="2034282"/>
            <a:ext cx="2070048" cy="294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150" spc="-43" kern="0" dirty="0">
                <a:solidFill>
                  <a:srgbClr val="1E293B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Set quantities</a:t>
            </a:r>
            <a:endParaRPr lang="en-US" sz="2150" dirty="0"/>
          </a:p>
        </p:txBody>
      </p:sp>
      <p:sp>
        <p:nvSpPr>
          <p:cNvPr id="18" name="Text 16"/>
          <p:cNvSpPr/>
          <p:nvPr/>
        </p:nvSpPr>
        <p:spPr>
          <a:xfrm>
            <a:off x="6483188" y="2462510"/>
            <a:ext cx="2070048" cy="1031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64748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Specify quantities for lights, ceiling fans, dining tables, and other items.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9092973" y="1467545"/>
            <a:ext cx="2539936" cy="2801938"/>
          </a:xfrm>
          <a:prstGeom prst="roundRect">
            <a:avLst>
              <a:gd name="adj" fmla="val 54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27940" dist="8890" dir="5400000">
              <a:srgbClr val="1e293b">
                <a:alpha val="1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327917" y="1727895"/>
            <a:ext cx="371863" cy="233362"/>
          </a:xfrm>
          <a:prstGeom prst="roundRect">
            <a:avLst>
              <a:gd name="adj" fmla="val 32652"/>
            </a:avLst>
          </a:prstGeom>
          <a:solidFill>
            <a:srgbClr val="E0E6EC"/>
          </a:solidFill>
          <a:ln w="6350">
            <a:solidFill>
              <a:srgbClr val="D4D4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23164" y="1777901"/>
            <a:ext cx="79095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050" spc="84" kern="0" dirty="0">
                <a:solidFill>
                  <a:srgbClr val="123A63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04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327917" y="2034282"/>
            <a:ext cx="2070048" cy="294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150" spc="-43" kern="0" dirty="0">
                <a:solidFill>
                  <a:srgbClr val="1E293B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Recommend</a:t>
            </a:r>
            <a:endParaRPr lang="en-US" sz="2150" dirty="0"/>
          </a:p>
        </p:txBody>
      </p:sp>
      <p:sp>
        <p:nvSpPr>
          <p:cNvPr id="23" name="Text 21"/>
          <p:cNvSpPr/>
          <p:nvPr/>
        </p:nvSpPr>
        <p:spPr>
          <a:xfrm>
            <a:off x="9327917" y="2462510"/>
            <a:ext cx="2070048" cy="15466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64748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Gemini processes inputs and recommends cost-effective options across IKEA and Amazon.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457189" y="6549430"/>
            <a:ext cx="4077392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00" spc="126" kern="0" dirty="0">
                <a:solidFill>
                  <a:srgbClr val="64748B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POCKETSMART AI · BCA PROJECT PRESENTATION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65343" y="6549430"/>
            <a:ext cx="626352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00" spc="126" kern="0" dirty="0">
                <a:solidFill>
                  <a:srgbClr val="123A63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31800"/>
            <a:ext cx="1163290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spc="110" kern="0" dirty="0">
                <a:solidFill>
                  <a:srgbClr val="334155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PLANNER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58786" y="714375"/>
            <a:ext cx="11074123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200" b="1" spc="-64" kern="0" dirty="0">
                <a:solidFill>
                  <a:srgbClr val="1E293B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Party Planner allocates the event budget by need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58786" y="1467545"/>
            <a:ext cx="2539936" cy="2286397"/>
          </a:xfrm>
          <a:prstGeom prst="roundRect">
            <a:avLst>
              <a:gd name="adj" fmla="val 599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27940" dist="8890" dir="5400000">
              <a:srgbClr val="1e293b">
                <a:alpha val="1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93730" y="1727895"/>
            <a:ext cx="371863" cy="233362"/>
          </a:xfrm>
          <a:prstGeom prst="roundRect">
            <a:avLst>
              <a:gd name="adj" fmla="val 32652"/>
            </a:avLst>
          </a:prstGeom>
          <a:solidFill>
            <a:srgbClr val="E0E6EC"/>
          </a:solidFill>
          <a:ln w="6350">
            <a:solidFill>
              <a:srgbClr val="D4D4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8978" y="1777901"/>
            <a:ext cx="79095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050" spc="84" kern="0" dirty="0">
                <a:solidFill>
                  <a:srgbClr val="123A63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01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93730" y="2034282"/>
            <a:ext cx="2070048" cy="294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150" spc="-43" kern="0" dirty="0">
                <a:solidFill>
                  <a:srgbClr val="1E293B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Capture context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793730" y="2462510"/>
            <a:ext cx="2070048" cy="1031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64748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Enter total budget, guest count, event type, and venue details.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3403515" y="1467545"/>
            <a:ext cx="2539936" cy="2286397"/>
          </a:xfrm>
          <a:prstGeom prst="roundRect">
            <a:avLst>
              <a:gd name="adj" fmla="val 599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27940" dist="8890" dir="5400000">
              <a:srgbClr val="1e293b">
                <a:alpha val="1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38459" y="1727895"/>
            <a:ext cx="371863" cy="233362"/>
          </a:xfrm>
          <a:prstGeom prst="roundRect">
            <a:avLst>
              <a:gd name="adj" fmla="val 32652"/>
            </a:avLst>
          </a:prstGeom>
          <a:solidFill>
            <a:srgbClr val="E0E6EC"/>
          </a:solidFill>
          <a:ln w="6350">
            <a:solidFill>
              <a:srgbClr val="D4D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33707" y="1777901"/>
            <a:ext cx="79095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050" spc="84" kern="0" dirty="0">
                <a:solidFill>
                  <a:srgbClr val="123A63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02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38459" y="2034282"/>
            <a:ext cx="2070048" cy="294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150" spc="-43" kern="0" dirty="0">
                <a:solidFill>
                  <a:srgbClr val="1E293B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Allocate</a:t>
            </a:r>
            <a:endParaRPr lang="en-US" sz="2150" dirty="0"/>
          </a:p>
        </p:txBody>
      </p:sp>
      <p:sp>
        <p:nvSpPr>
          <p:cNvPr id="13" name="Text 11"/>
          <p:cNvSpPr/>
          <p:nvPr/>
        </p:nvSpPr>
        <p:spPr>
          <a:xfrm>
            <a:off x="3638459" y="2462510"/>
            <a:ext cx="2070048" cy="1031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64748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AI allocates budget proportionally across catering, decoration, and entertainment.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248244" y="1467545"/>
            <a:ext cx="2539936" cy="2286397"/>
          </a:xfrm>
          <a:prstGeom prst="roundRect">
            <a:avLst>
              <a:gd name="adj" fmla="val 599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27940" dist="8890" dir="5400000">
              <a:srgbClr val="1e293b">
                <a:alpha val="1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83188" y="1727895"/>
            <a:ext cx="371863" cy="233362"/>
          </a:xfrm>
          <a:prstGeom prst="roundRect">
            <a:avLst>
              <a:gd name="adj" fmla="val 32652"/>
            </a:avLst>
          </a:prstGeom>
          <a:solidFill>
            <a:srgbClr val="E0E6EC"/>
          </a:solidFill>
          <a:ln w="6350">
            <a:solidFill>
              <a:srgbClr val="D4D4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78435" y="1777901"/>
            <a:ext cx="79095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050" spc="84" kern="0" dirty="0">
                <a:solidFill>
                  <a:srgbClr val="123A63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03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83188" y="2034282"/>
            <a:ext cx="2070048" cy="294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150" spc="-43" kern="0" dirty="0">
                <a:solidFill>
                  <a:srgbClr val="1E293B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Discover</a:t>
            </a:r>
            <a:endParaRPr lang="en-US" sz="2150" dirty="0"/>
          </a:p>
        </p:txBody>
      </p:sp>
      <p:sp>
        <p:nvSpPr>
          <p:cNvPr id="18" name="Text 16"/>
          <p:cNvSpPr/>
          <p:nvPr/>
        </p:nvSpPr>
        <p:spPr>
          <a:xfrm>
            <a:off x="6483188" y="2462510"/>
            <a:ext cx="2070048" cy="1031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64748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Suggestions can draw from Swiggy, Zomato, and accommodation services such as OYO.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9092973" y="1467545"/>
            <a:ext cx="2539936" cy="2286397"/>
          </a:xfrm>
          <a:prstGeom prst="roundRect">
            <a:avLst>
              <a:gd name="adj" fmla="val 599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27940" dist="8890" dir="5400000">
              <a:srgbClr val="1e293b">
                <a:alpha val="1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327917" y="1727895"/>
            <a:ext cx="371863" cy="233362"/>
          </a:xfrm>
          <a:prstGeom prst="roundRect">
            <a:avLst>
              <a:gd name="adj" fmla="val 32652"/>
            </a:avLst>
          </a:prstGeom>
          <a:solidFill>
            <a:srgbClr val="E0E6EC"/>
          </a:solidFill>
          <a:ln w="6350">
            <a:solidFill>
              <a:srgbClr val="D4D4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23164" y="1777901"/>
            <a:ext cx="79095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050" spc="84" kern="0" dirty="0">
                <a:solidFill>
                  <a:srgbClr val="123A63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04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327917" y="2034282"/>
            <a:ext cx="2070048" cy="294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150" spc="-43" kern="0" dirty="0">
                <a:solidFill>
                  <a:srgbClr val="1E293B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Match the event</a:t>
            </a:r>
            <a:endParaRPr lang="en-US" sz="2150" dirty="0"/>
          </a:p>
        </p:txBody>
      </p:sp>
      <p:sp>
        <p:nvSpPr>
          <p:cNvPr id="23" name="Text 21"/>
          <p:cNvSpPr/>
          <p:nvPr/>
        </p:nvSpPr>
        <p:spPr>
          <a:xfrm>
            <a:off x="9327917" y="2462510"/>
            <a:ext cx="2070048" cy="1031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64748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Event context includes birthday, corporate, and wedding scenarios.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457189" y="6549430"/>
            <a:ext cx="4077392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00" spc="126" kern="0" dirty="0">
                <a:solidFill>
                  <a:srgbClr val="64748B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POCKETSMART AI · BCA PROJECT PRESENTATION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65343" y="6549430"/>
            <a:ext cx="626352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00" spc="126" kern="0" dirty="0">
                <a:solidFill>
                  <a:srgbClr val="123A63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82600"/>
            <a:ext cx="594345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spc="110" kern="0" dirty="0">
                <a:solidFill>
                  <a:srgbClr val="334155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PLANNER 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58786" y="765175"/>
            <a:ext cx="5511662" cy="877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200" b="1" spc="-64" kern="0" dirty="0">
                <a:solidFill>
                  <a:srgbClr val="1E293B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Jewelry Planner adds multimodal styling support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58786" y="1827014"/>
            <a:ext cx="5511662" cy="1619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1250"/>
              </a:spcAft>
              <a:buNone/>
            </a:pPr>
            <a:r>
              <a:rPr lang="en-US" sz="1450" dirty="0">
                <a:solidFill>
                  <a:srgbClr val="3341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User enters budget, occasion, and style preferences.</a:t>
            </a:r>
            <a:endParaRPr lang="en-US" sz="1450" dirty="0"/>
          </a:p>
          <a:p>
            <a:pPr algn="l" indent="0" marL="0">
              <a:lnSpc>
                <a:spcPct val="117000"/>
              </a:lnSpc>
              <a:spcAft>
                <a:spcPts val="1250"/>
              </a:spcAft>
              <a:buNone/>
            </a:pPr>
            <a:r>
              <a:rPr lang="en-US" sz="1450" dirty="0">
                <a:solidFill>
                  <a:srgbClr val="3341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An outfit image can be uploaded optionally for color coordination and aesthetic analysis.</a:t>
            </a:r>
            <a:endParaRPr lang="en-US" sz="14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3341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Gemini 1.5 Flash Pro returns jewelry options from platforms such as Amazon and Flipkart.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502237" y="0"/>
            <a:ext cx="5689458" cy="6858000"/>
          </a:xfrm>
          <a:prstGeom prst="rect">
            <a:avLst/>
          </a:prstGeom>
          <a:solidFill>
            <a:srgbClr val="123A6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2237" y="0"/>
            <a:ext cx="5689458" cy="6858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189" y="6549430"/>
            <a:ext cx="4077392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00" spc="126" kern="0" dirty="0">
                <a:solidFill>
                  <a:srgbClr val="64748B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POCKETSMART AI · BCA PROJECT PRESENTATION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011216" y="6549430"/>
            <a:ext cx="778748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00" spc="126" kern="0" dirty="0">
                <a:solidFill>
                  <a:srgbClr val="123A63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38339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189" y="2779713"/>
            <a:ext cx="175255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spc="115" kern="0" dirty="0">
                <a:solidFill>
                  <a:srgbClr val="334155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ARCHITECTURE AND TECHNOLOGY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189" y="3494088"/>
            <a:ext cx="1752556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600" b="1" spc="-230" kern="0" dirty="0">
                <a:solidFill>
                  <a:srgbClr val="123A63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02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2438339" y="0"/>
            <a:ext cx="9753356" cy="6858000"/>
          </a:xfrm>
          <a:prstGeom prst="rect">
            <a:avLst/>
          </a:prstGeom>
          <a:solidFill>
            <a:srgbClr val="123A63"/>
          </a:solidFill>
          <a:ln/>
        </p:spPr>
      </p:sp>
      <p:sp>
        <p:nvSpPr>
          <p:cNvPr id="6" name="Shape 4"/>
          <p:cNvSpPr/>
          <p:nvPr/>
        </p:nvSpPr>
        <p:spPr>
          <a:xfrm>
            <a:off x="3301917" y="2248495"/>
            <a:ext cx="431690" cy="31651"/>
          </a:xfrm>
          <a:prstGeom prst="roundRect">
            <a:avLst>
              <a:gd name="adj" fmla="val 49998"/>
            </a:avLst>
          </a:prstGeom>
          <a:solidFill>
            <a:srgbClr val="123A63"/>
          </a:solidFill>
          <a:ln/>
        </p:spPr>
      </p:sp>
      <p:sp>
        <p:nvSpPr>
          <p:cNvPr id="7" name="Text 5"/>
          <p:cNvSpPr/>
          <p:nvPr/>
        </p:nvSpPr>
        <p:spPr>
          <a:xfrm>
            <a:off x="3301917" y="2791420"/>
            <a:ext cx="888977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spc="110" kern="0" dirty="0">
                <a:solidFill>
                  <a:srgbClr val="FFFF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POCKETSMART AI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01917" y="3073995"/>
            <a:ext cx="8432589" cy="877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200" b="1" spc="-64" kern="0" dirty="0">
                <a:solidFill>
                  <a:srgbClr val="FFFF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From adaptive inputs to tailored recommendations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301917" y="4135834"/>
            <a:ext cx="8432589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 modular platform connects the user interface, service layer, Gemini, and third-party sources.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189" y="6549430"/>
            <a:ext cx="4077392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00" spc="126" kern="0" dirty="0">
                <a:solidFill>
                  <a:srgbClr val="64748B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POCKETSMART AI · BCA PROJECT PRESENTATION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565343" y="6549430"/>
            <a:ext cx="626352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00" spc="126" kern="0" dirty="0">
                <a:solidFill>
                  <a:srgbClr val="123A63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31800"/>
            <a:ext cx="1163290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spc="110" kern="0" dirty="0">
                <a:solidFill>
                  <a:srgbClr val="334155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02 / ARCHITECTURE AND TECHNOLOGY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58786" y="714375"/>
            <a:ext cx="11074123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200" b="1" spc="-64" kern="0" dirty="0">
                <a:solidFill>
                  <a:srgbClr val="1E293B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A modular platform connects UI, backend, Gemini, and sources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58786" y="1467545"/>
            <a:ext cx="442365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115" kern="0" dirty="0">
                <a:solidFill>
                  <a:srgbClr val="64748B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FRONTEND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58786" y="1832670"/>
            <a:ext cx="4423657" cy="589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150" spc="-43" kern="0" dirty="0">
                <a:solidFill>
                  <a:srgbClr val="1E293B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Collects budgets, preferences, and images.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558786" y="2555776"/>
            <a:ext cx="442365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115" kern="0" dirty="0">
                <a:solidFill>
                  <a:srgbClr val="64748B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SERVICE LAYER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58786" y="2920901"/>
            <a:ext cx="4423657" cy="8846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150" spc="-43" kern="0" dirty="0">
                <a:solidFill>
                  <a:srgbClr val="1E293B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Flask/Fast API backend manages routes, sessions, models, and AI communication.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558786" y="3938885"/>
            <a:ext cx="442365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115" kern="0" dirty="0">
                <a:solidFill>
                  <a:srgbClr val="64748B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AI AND SOURCES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58786" y="4304010"/>
            <a:ext cx="4423657" cy="1179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150" spc="-43" kern="0" dirty="0">
                <a:solidFill>
                  <a:srgbClr val="1E293B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Gemini 1.5 Flash Pro processes text, numbers, and images; third-party platforms provide product and service context.</a:t>
            </a:r>
            <a:endParaRPr lang="en-US" sz="21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39631" y="1818382"/>
            <a:ext cx="6193278" cy="3314303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584770" y="2047535"/>
            <a:ext cx="998004" cy="151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00" b="1" spc="-22" kern="0" dirty="0">
                <a:solidFill>
                  <a:srgbClr val="33415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Frontend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584770" y="2265012"/>
            <a:ext cx="998004" cy="461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Collects budgets, preferences, and images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0477380" y="2047535"/>
            <a:ext cx="998005" cy="151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00" b="1" spc="-22" kern="0" dirty="0">
                <a:solidFill>
                  <a:srgbClr val="33415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Backend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0477380" y="2265012"/>
            <a:ext cx="998005" cy="461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Flask/FastAPI routes, sessions, models, AI comms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584770" y="3806441"/>
            <a:ext cx="998004" cy="151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00" b="1" spc="-22" kern="0" dirty="0">
                <a:solidFill>
                  <a:srgbClr val="33415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Gemini 1.5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584770" y="4023918"/>
            <a:ext cx="998004" cy="461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Processes text, numbers, and images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477380" y="3806441"/>
            <a:ext cx="998005" cy="151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00" b="1" spc="-22" kern="0" dirty="0">
                <a:solidFill>
                  <a:srgbClr val="33415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Third-Party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0477380" y="4023918"/>
            <a:ext cx="998005" cy="461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Provides product and service context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457189" y="6549430"/>
            <a:ext cx="4077392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00" spc="126" kern="0" dirty="0">
                <a:solidFill>
                  <a:srgbClr val="64748B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POCKETSMART AI · BCA PROJECT PRESENTATION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565343" y="6549430"/>
            <a:ext cx="626352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00" spc="126" kern="0" dirty="0">
                <a:solidFill>
                  <a:srgbClr val="123A63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2026-09-23T15:12:18Z</dcterms:created>
  <dcterms:modified xsi:type="dcterms:W3CDTF">2026-09-23T15:12:18Z</dcterms:modified>
</cp:coreProperties>
</file>