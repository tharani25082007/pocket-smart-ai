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 Medium" panose="020B0604020202020204" charset="0"/>
      <p:regular r:id="rId13"/>
    </p:embeddedFont>
    <p:embeddedFont>
      <p:font typeface="JetBrains Mono Bold" panose="020B0604020202020204" charset="0"/>
      <p:regular r:id="rId14"/>
    </p:embeddedFont>
    <p:embeddedFont>
      <p:font typeface="JetBrains Mono Medium" panose="020B0604020202020204" charset="0"/>
      <p:regular r:id="rId15"/>
    </p:embeddedFont>
    <p:embeddedFont>
      <p:font typeface="JetBrains Mono SemiBold" panose="020B0604020202020204" charset="0"/>
      <p:regular r:id="rId16"/>
    </p:embeddedFont>
    <p:embeddedFont>
      <p:font typeface="Source Sans 3 Bold" panose="020B0604020202020204" charset="0"/>
      <p:regular r:id="rId17"/>
    </p:embeddedFont>
    <p:embeddedFont>
      <p:font typeface="Source Sans 3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196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99042" cy="685800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508000"/>
            <a:ext cx="58418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BCA PROJECT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3577828"/>
            <a:ext cx="538466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b="1" kern="0" spc="-8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Pocket Smart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189" y="4291509"/>
            <a:ext cx="53846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kern="0" spc="-3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Your Smart Budget &amp; Recommendation Assistant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189" y="4681339"/>
            <a:ext cx="538466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Personalized, budget-based suggestions across categories and e-commerce ecosystems.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189" y="5530850"/>
            <a:ext cx="431690" cy="31651"/>
          </a:xfrm>
          <a:prstGeom prst="roundRect">
            <a:avLst>
              <a:gd name="adj" fmla="val 49998"/>
            </a:avLst>
          </a:prstGeom>
          <a:solidFill>
            <a:srgbClr val="123A63"/>
          </a:solidFill>
          <a:ln/>
        </p:spPr>
      </p:sp>
      <p:sp>
        <p:nvSpPr>
          <p:cNvPr id="8" name="Text 6"/>
          <p:cNvSpPr/>
          <p:nvPr/>
        </p:nvSpPr>
        <p:spPr>
          <a:xfrm>
            <a:off x="457189" y="5924550"/>
            <a:ext cx="53846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BUDGET PLANNING · GENAI RECOMMENDATIONS · CROSS-PLATFORM DISCOVERY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99042" y="0"/>
            <a:ext cx="5892653" cy="321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DDDE95-3766-2C66-C3C8-72C8565E9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2779713"/>
            <a:ext cx="17525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 INTRODUCTION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3494088"/>
            <a:ext cx="1752556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kern="0" spc="-230" dirty="0">
                <a:solidFill>
                  <a:srgbClr val="123A6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438339" y="0"/>
            <a:ext cx="9753356" cy="685800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6" name="Shape 4"/>
          <p:cNvSpPr/>
          <p:nvPr/>
        </p:nvSpPr>
        <p:spPr>
          <a:xfrm>
            <a:off x="3301917" y="2248495"/>
            <a:ext cx="431690" cy="31651"/>
          </a:xfrm>
          <a:prstGeom prst="roundRect">
            <a:avLst>
              <a:gd name="adj" fmla="val 49998"/>
            </a:avLst>
          </a:prstGeom>
          <a:solidFill>
            <a:srgbClr val="123A63"/>
          </a:solidFill>
          <a:ln/>
        </p:spPr>
      </p:sp>
      <p:sp>
        <p:nvSpPr>
          <p:cNvPr id="7" name="Text 5"/>
          <p:cNvSpPr/>
          <p:nvPr/>
        </p:nvSpPr>
        <p:spPr>
          <a:xfrm>
            <a:off x="3301917" y="2791420"/>
            <a:ext cx="88897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POCKETSMART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917" y="3073995"/>
            <a:ext cx="8432589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Personalized recommendations, grounded in a budget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01917" y="4135834"/>
            <a:ext cx="843258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GenAI-powered assistant for decisions across home decor, events, and jewelry shopping.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26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 / PROJECT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651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Budget planning becomes difficult when choices multiply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518345"/>
            <a:ext cx="3488146" cy="2306042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3730" y="1727895"/>
            <a:ext cx="32532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MANY CATEGORIES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3730" y="2093020"/>
            <a:ext cx="3018258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Home decor, events, and jewelry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3730" y="2816126"/>
            <a:ext cx="301825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Each spans many products, platforms, and price ranges.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51725" y="1518345"/>
            <a:ext cx="3488146" cy="2306042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6669" y="1727895"/>
            <a:ext cx="32532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MANY CHOICES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86669" y="2093020"/>
            <a:ext cx="3018258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More options create more friction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4586669" y="2816126"/>
            <a:ext cx="301825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Comparing products and services makes decisions harder.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44663" y="1518345"/>
            <a:ext cx="3488246" cy="2306042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9608" y="1727895"/>
            <a:ext cx="32533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GOAL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79608" y="2093020"/>
            <a:ext cx="3018357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Decide without overspending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8379608" y="2816126"/>
            <a:ext cx="3018357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Pocket Smart AI provides personalized, budget-based suggestions.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58786" y="4138712"/>
            <a:ext cx="116329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ADDRESSES THIS WITH A GENAI-POWERED, CROSS-PLATFORM RECOMMENDATION SYSTEM.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THE PLATFORM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Pocket Smart AI connects budgets, preferences, and platforms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2120900"/>
            <a:ext cx="3892849" cy="1654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1.5 Flash Pro interprets user budgets, preferences, context, and optional images.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Adaptive forms and a recommendation engine bridge multiple categories and e-commerce ecosystems.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58786" y="3883422"/>
            <a:ext cx="389284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RECOMMENDATIONS CAN SPAN AMAZON, FLIPKART, IKEA, SWIGGY, ZOMATO, OYO, AND MORE.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725" y="1467545"/>
            <a:ext cx="6724184" cy="36694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73686" y="2892940"/>
            <a:ext cx="1394261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kern="0" spc="-24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PocketSmart 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73686" y="3127448"/>
            <a:ext cx="1394261" cy="489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Recommendation engine hub connecting inputs to platforms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88367" y="1797732"/>
            <a:ext cx="1602707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kern="0" spc="-24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Budgets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88367" y="2032240"/>
            <a:ext cx="1602707" cy="32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 spending limits and ranges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718661" y="2154116"/>
            <a:ext cx="1602707" cy="16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kern="0" spc="-24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Preferences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718661" y="2388624"/>
            <a:ext cx="1602707" cy="32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Style, brands, and delivery options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206818" y="3969657"/>
            <a:ext cx="1602707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kern="0" spc="-24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Optional Images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06818" y="4204165"/>
            <a:ext cx="1602707" cy="32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Upload photos for visual matching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530388" y="4258799"/>
            <a:ext cx="1602707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kern="0" spc="-24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530388" y="4493306"/>
            <a:ext cx="1602707" cy="32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Amazon, Flipkart, IKEA, Swiggy, Zomato, OYO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26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ONE PLATFORM · THREE ASSISTANTS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651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Three planners turn one platform into three practical assistants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518345"/>
            <a:ext cx="3488146" cy="2626122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1778695"/>
            <a:ext cx="368291" cy="368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30" y="2254945"/>
            <a:ext cx="32532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HOME INTERIOR PLANNER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3730" y="2620070"/>
            <a:ext cx="3018258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Room-aware decor recommendations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93730" y="3343176"/>
            <a:ext cx="301825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Balances style, function, and price.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51725" y="1518345"/>
            <a:ext cx="3488146" cy="2626122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669" y="1778695"/>
            <a:ext cx="368291" cy="368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6669" y="2254945"/>
            <a:ext cx="32532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PARTY PLANNER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86669" y="2620070"/>
            <a:ext cx="301825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Budget allocation by need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4586669" y="3048298"/>
            <a:ext cx="301825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Plans catering, decoration, entertainment, and accommodation.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144663" y="1518345"/>
            <a:ext cx="3488246" cy="2626122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608" y="1778695"/>
            <a:ext cx="368291" cy="368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79608" y="2254945"/>
            <a:ext cx="32533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JEWELRY PLANNER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379608" y="2620070"/>
            <a:ext cx="3018357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Occasion- and style-aware suggestions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8379608" y="3343176"/>
            <a:ext cx="301835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Supports optional outfit image analysis.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58786" y="4458791"/>
            <a:ext cx="116329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EACH PLANNER CONVERTS STRUCTURED INPUTS INTO TAILORED RECOMMENDATIONS.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PLANNER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Home Interior Planner balances style, function, and price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467545"/>
            <a:ext cx="2539936" cy="2801938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3730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8978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3730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Select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3730" y="2462510"/>
            <a:ext cx="207004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selects the Home Budget Planner and enters a budget.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03515" y="1467545"/>
            <a:ext cx="2539936" cy="2801938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8459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3707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38459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Define room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3638459" y="2462510"/>
            <a:ext cx="207004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Room types can include Living Room, Kitchen, and Bedroom.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48244" y="1467545"/>
            <a:ext cx="2539936" cy="2801938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3188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8435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83188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Set quantities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6483188" y="2462510"/>
            <a:ext cx="207004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Specify quantities for lights, ceiling fans, dining tables, and other items.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092973" y="1467545"/>
            <a:ext cx="2539936" cy="2801938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7917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3164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27917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Recommend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9327917" y="2462510"/>
            <a:ext cx="2070048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processes inputs and recommends cost-effective options across IKEA and Amazon.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PLANNER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Party Planner allocates the event budget by need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467545"/>
            <a:ext cx="2539936" cy="2286397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3730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8978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3730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Capture context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3730" y="2462510"/>
            <a:ext cx="207004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Enter total budget, guest count, event type, and venue details.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03515" y="1467545"/>
            <a:ext cx="2539936" cy="2286397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8459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3707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38459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Allocate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3638459" y="2462510"/>
            <a:ext cx="207004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allocates budget proportionally across catering, decoration, and entertainment.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48244" y="1467545"/>
            <a:ext cx="2539936" cy="2286397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3188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8435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83188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Discover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6483188" y="2462510"/>
            <a:ext cx="207004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Suggestions can draw from Swiggy, Zomato, and accommodation services such as OYO.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092973" y="1467545"/>
            <a:ext cx="2539936" cy="2286397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7917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3164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27917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Match the event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9327917" y="2462510"/>
            <a:ext cx="207004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Event context includes birthday, corporate, and wedding scenarios.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2600"/>
            <a:ext cx="594345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PLANNER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65175"/>
            <a:ext cx="5511662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Jewelry Planner adds multimodal styling support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1827014"/>
            <a:ext cx="5511662" cy="161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enters budget, occasion, and style preferences.</a:t>
            </a:r>
            <a:endParaRPr lang="en-US" sz="1450" dirty="0"/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outfit image can be uploaded optionally for color coordination and aesthetic analysis.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1.5 Flash Pro returns jewelry options from platforms such as Amazon and Flipkart.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02237" y="0"/>
            <a:ext cx="5689458" cy="6858000"/>
          </a:xfrm>
          <a:prstGeom prst="rect">
            <a:avLst/>
          </a:prstGeom>
          <a:solidFill>
            <a:srgbClr val="123A6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11216" y="6549430"/>
            <a:ext cx="77874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2779713"/>
            <a:ext cx="17525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ARCHITECTURE AND TECHNOLOGY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3494088"/>
            <a:ext cx="1752556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kern="0" spc="-230" dirty="0">
                <a:solidFill>
                  <a:srgbClr val="123A6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438339" y="0"/>
            <a:ext cx="9753356" cy="685800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6" name="Shape 4"/>
          <p:cNvSpPr/>
          <p:nvPr/>
        </p:nvSpPr>
        <p:spPr>
          <a:xfrm>
            <a:off x="3301917" y="2248495"/>
            <a:ext cx="431690" cy="31651"/>
          </a:xfrm>
          <a:prstGeom prst="roundRect">
            <a:avLst>
              <a:gd name="adj" fmla="val 49998"/>
            </a:avLst>
          </a:prstGeom>
          <a:solidFill>
            <a:srgbClr val="123A63"/>
          </a:solidFill>
          <a:ln/>
        </p:spPr>
      </p:sp>
      <p:sp>
        <p:nvSpPr>
          <p:cNvPr id="7" name="Text 5"/>
          <p:cNvSpPr/>
          <p:nvPr/>
        </p:nvSpPr>
        <p:spPr>
          <a:xfrm>
            <a:off x="3301917" y="2791420"/>
            <a:ext cx="88897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POCKETSMART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917" y="3073995"/>
            <a:ext cx="8432589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From adaptive inputs to tailored recommendations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01917" y="4135834"/>
            <a:ext cx="843258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modular platform connects the user interface, service layer, Gemini, and third-party sources.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 / ARCHITECTURE AND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 modular platform connects UI, backend, Gemini, and 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1467545"/>
            <a:ext cx="44236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8786" y="1832670"/>
            <a:ext cx="4423657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Collects budgets, preferences, and images.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58786" y="2555776"/>
            <a:ext cx="44236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SERVICE 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8786" y="2920901"/>
            <a:ext cx="4423657" cy="884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Flask/Fast API backend manages routes, sessions, models, and AI communication.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58786" y="3938885"/>
            <a:ext cx="44236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 AND SOURCES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786" y="4304010"/>
            <a:ext cx="4423657" cy="1179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Gemini 1.5 Flash Pro processes text, numbers, and images; third-party platforms provide product and service context.</a:t>
            </a:r>
            <a:endParaRPr lang="en-US" sz="2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631" y="1818382"/>
            <a:ext cx="6193278" cy="33143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84770" y="2047535"/>
            <a:ext cx="998004" cy="15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kern="0" spc="-22" dirty="0">
                <a:solidFill>
                  <a:srgbClr val="33415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84770" y="2265012"/>
            <a:ext cx="998004" cy="46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Collects budgets, preferences, and images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477380" y="2047535"/>
            <a:ext cx="998005" cy="15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kern="0" spc="-22" dirty="0">
                <a:solidFill>
                  <a:srgbClr val="33415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477380" y="2265012"/>
            <a:ext cx="998005" cy="46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Flask/FastAPI routes, sessions, models, AI comms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84770" y="3806441"/>
            <a:ext cx="998004" cy="15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kern="0" spc="-22" dirty="0">
                <a:solidFill>
                  <a:srgbClr val="33415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Gemini 1.5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84770" y="4023918"/>
            <a:ext cx="998004" cy="46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Processes text, numbers, and images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477380" y="3806441"/>
            <a:ext cx="998005" cy="15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kern="0" spc="-22" dirty="0">
                <a:solidFill>
                  <a:srgbClr val="33415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Third-Party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477380" y="4023918"/>
            <a:ext cx="998005" cy="46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Provides product and service context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692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JetBrains Mono Medium</vt:lpstr>
      <vt:lpstr>Arial</vt:lpstr>
      <vt:lpstr>Source Sans 3 SemiBold</vt:lpstr>
      <vt:lpstr>JetBrains Mono SemiBold</vt:lpstr>
      <vt:lpstr>Inter Medium</vt:lpstr>
      <vt:lpstr>JetBrains Mono Bold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SDCLAB3</cp:lastModifiedBy>
  <cp:revision>2</cp:revision>
  <dcterms:created xsi:type="dcterms:W3CDTF">2026-09-23T15:12:18Z</dcterms:created>
  <dcterms:modified xsi:type="dcterms:W3CDTF">2026-09-28T06:01:19Z</dcterms:modified>
</cp:coreProperties>
</file>